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477"/>
          </a:solidFill>
          <a:ln w="15240">
            <a:solidFill>
              <a:srgbClr val="1F4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" y="228600"/>
            <a:ext cx="19385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需求与场景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8256" y="228600"/>
            <a:ext cx="1892807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方案架构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14215" y="228600"/>
            <a:ext cx="207568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AI 与开源融合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63055" y="228600"/>
            <a:ext cx="1938528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自主实现内容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9" y="0"/>
            <a:ext cx="1965960" cy="9601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64592"/>
            <a:ext cx="1874519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1F4477"/>
                </a:solidFill>
                <a:latin typeface="Microsoft YaHei"/>
              </a:rPr>
              <a:t>功能效果与创新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0695" y="228600"/>
            <a:ext cx="2014423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开放成果与后续计划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207008"/>
            <a:ext cx="1097280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61616"/>
                </a:solidFill>
                <a:latin typeface="Microsoft YaHei"/>
              </a:rPr>
              <a:t>三个核心创新：让开源 AI 真正服务老年人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847088"/>
            <a:ext cx="3246120" cy="4297680"/>
          </a:xfrm>
          <a:prstGeom prst="roundRect">
            <a:avLst/>
          </a:prstGeom>
          <a:solidFill>
            <a:srgbClr val="F7F9FC"/>
          </a:solidFill>
          <a:ln w="15240">
            <a:solidFill>
              <a:srgbClr val="1F4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148840"/>
            <a:ext cx="26974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1F4477"/>
                </a:solidFill>
                <a:latin typeface="Microsoft YaHei"/>
              </a:rPr>
              <a:t>核心价值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697480"/>
            <a:ext cx="2697480" cy="12984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>
                <a:solidFill>
                  <a:srgbClr val="161616"/>
                </a:solidFill>
                <a:latin typeface="Microsoft YaHei"/>
              </a:rPr>
              <a:t>从“能回答”
到“能理解、能操作、能协同”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4315968"/>
            <a:ext cx="2697480" cy="1097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>
                <a:solidFill>
                  <a:srgbClr val="4A4A4A"/>
                </a:solidFill>
                <a:latin typeface="Microsoft YaHei"/>
              </a:rPr>
              <a:t>Qwen 本地推理
RAG 知识库
PaddleOCR
Flutter + 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5513832"/>
            <a:ext cx="2697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F4477"/>
                </a:solidFill>
                <a:latin typeface="Microsoft YaHei"/>
              </a:rPr>
              <a:t>技术支撑，而非创新本身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847088"/>
            <a:ext cx="745236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148840"/>
            <a:ext cx="6720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F4477"/>
                </a:solidFill>
                <a:latin typeface="Microsoft YaHei"/>
              </a:rPr>
              <a:t>① 老人—家属协同闭环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532888"/>
            <a:ext cx="6720840" cy="51206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50" b="0">
                <a:solidFill>
                  <a:srgbClr val="161616"/>
                </a:solidFill>
                <a:latin typeface="Microsoft YaHei"/>
              </a:rPr>
              <a:t>邀请码绑定 + elder_id 数据隔离。老人自主记录，家属授权查看、代录和提醒。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081528"/>
            <a:ext cx="67208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>
                <a:solidFill>
                  <a:srgbClr val="AA0000"/>
                </a:solidFill>
                <a:latin typeface="Microsoft YaHei"/>
              </a:rPr>
              <a:t>亮点：从单人健康记录扩展为家庭协同照护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456432"/>
            <a:ext cx="6720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F4477"/>
                </a:solidFill>
                <a:latin typeface="Microsoft YaHei"/>
              </a:rPr>
              <a:t>② 开源 AI 适老化改造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840480"/>
            <a:ext cx="6720840" cy="51206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50" b="0">
                <a:solidFill>
                  <a:srgbClr val="161616"/>
                </a:solidFill>
                <a:latin typeface="Microsoft YaHei"/>
              </a:rPr>
              <a:t>Qwen 本地推理 + RAG + OCR + 语音交互，配合大字体、大按钮和步骤化回答。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389120"/>
            <a:ext cx="67208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>
                <a:solidFill>
                  <a:srgbClr val="AA0000"/>
                </a:solidFill>
                <a:latin typeface="Microsoft YaHei"/>
              </a:rPr>
              <a:t>亮点：把开源能力转化为老人能执行的服务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764024"/>
            <a:ext cx="6720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F4477"/>
                </a:solidFill>
                <a:latin typeface="Microsoft YaHei"/>
              </a:rPr>
              <a:t>③ 健康信息安全闭环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148072"/>
            <a:ext cx="6720840" cy="512064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50" b="0">
                <a:solidFill>
                  <a:srgbClr val="161616"/>
                </a:solidFill>
                <a:latin typeface="Microsoft YaHei"/>
              </a:rPr>
              <a:t>OCR 识别 → AI 整理 → 风险提示 → 家属协同 → 就医引导。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696712"/>
            <a:ext cx="67208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>
                <a:solidFill>
                  <a:srgbClr val="AA0000"/>
                </a:solidFill>
                <a:latin typeface="Microsoft YaHei"/>
              </a:rPr>
              <a:t>亮点：兼顾应用效果与医疗场景安全边界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